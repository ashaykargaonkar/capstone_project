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9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9ED5270-FE1C-4504-A506-3ABDF8DDCE3D}" type="datetimeFigureOut">
              <a:rPr lang="en-US" smtClean="0"/>
              <a:t>7/1/2021</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1116591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ED5270-FE1C-4504-A506-3ABDF8DDCE3D}" type="datetimeFigureOut">
              <a:rPr lang="en-US" smtClean="0"/>
              <a:t>7/1/2021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1666491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ED5270-FE1C-4504-A506-3ABDF8DDCE3D}" type="datetimeFigureOut">
              <a:rPr lang="en-US" smtClean="0"/>
              <a:t>7/1/2021</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2355239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ED5270-FE1C-4504-A506-3ABDF8DDCE3D}" type="datetimeFigureOut">
              <a:rPr lang="en-US" smtClean="0"/>
              <a:t>7/1/2021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795955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ED5270-FE1C-4504-A506-3ABDF8DDCE3D}" type="datetimeFigureOut">
              <a:rPr lang="en-US" smtClean="0"/>
              <a:t>7/1/2021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1452122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ED5270-FE1C-4504-A506-3ABDF8DDCE3D}" type="datetimeFigureOut">
              <a:rPr lang="en-US" smtClean="0"/>
              <a:t>7/1/2021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1097221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ED5270-FE1C-4504-A506-3ABDF8DDCE3D}" type="datetimeFigureOut">
              <a:rPr lang="en-US" smtClean="0"/>
              <a:t>7/1/2021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377545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ED5270-FE1C-4504-A506-3ABDF8DDCE3D}" type="datetimeFigureOut">
              <a:rPr lang="en-US" smtClean="0"/>
              <a:t>7/1/2021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20939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ED5270-FE1C-4504-A506-3ABDF8DDCE3D}" type="datetimeFigureOut">
              <a:rPr lang="en-US" smtClean="0"/>
              <a:t>7/1/2021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2402609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ED5270-FE1C-4504-A506-3ABDF8DDCE3D}" type="datetimeFigureOut">
              <a:rPr lang="en-US" smtClean="0"/>
              <a:t>7/1/2021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4063351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9ED5270-FE1C-4504-A506-3ABDF8DDCE3D}" type="datetimeFigureOut">
              <a:rPr lang="en-US" smtClean="0"/>
              <a:t>7/1/2021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76079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9ED5270-FE1C-4504-A506-3ABDF8DDCE3D}" type="datetimeFigureOut">
              <a:rPr lang="en-US" smtClean="0"/>
              <a:t>7/1/2021</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926029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ED5270-FE1C-4504-A506-3ABDF8DDCE3D}" type="datetimeFigureOut">
              <a:rPr lang="en-US" smtClean="0"/>
              <a:t>7/1/2021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7195631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9ED5270-FE1C-4504-A506-3ABDF8DDCE3D}" type="datetimeFigureOut">
              <a:rPr lang="en-US" smtClean="0"/>
              <a:t>7/1/2021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2228441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9ED5270-FE1C-4504-A506-3ABDF8DDCE3D}" type="datetimeFigureOut">
              <a:rPr lang="en-US" smtClean="0"/>
              <a:t>7/1/2021</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2539358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9ED5270-FE1C-4504-A506-3ABDF8DDCE3D}" type="datetimeFigureOut">
              <a:rPr lang="en-US" smtClean="0"/>
              <a:t>7/1/2021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14490136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9ED5270-FE1C-4504-A506-3ABDF8DDCE3D}" type="datetimeFigureOut">
              <a:rPr lang="en-US" smtClean="0"/>
              <a:t>7/1/2021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0295D48-5B97-41D5-92B2-80A444E80800}" type="slidenum">
              <a:rPr lang="en-US" smtClean="0"/>
              <a:t>‹#›</a:t>
            </a:fld>
            <a:endParaRPr lang="en-US"/>
          </a:p>
        </p:txBody>
      </p:sp>
    </p:spTree>
    <p:extLst>
      <p:ext uri="{BB962C8B-B14F-4D97-AF65-F5344CB8AC3E}">
        <p14:creationId xmlns:p14="http://schemas.microsoft.com/office/powerpoint/2010/main" val="2042485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9ED5270-FE1C-4504-A506-3ABDF8DDCE3D}" type="datetimeFigureOut">
              <a:rPr lang="en-US" smtClean="0"/>
              <a:t>7/1/2021</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0295D48-5B97-41D5-92B2-80A444E80800}" type="slidenum">
              <a:rPr lang="en-US" smtClean="0"/>
              <a:t>‹#›</a:t>
            </a:fld>
            <a:endParaRPr lang="en-US"/>
          </a:p>
        </p:txBody>
      </p:sp>
    </p:spTree>
    <p:extLst>
      <p:ext uri="{BB962C8B-B14F-4D97-AF65-F5344CB8AC3E}">
        <p14:creationId xmlns:p14="http://schemas.microsoft.com/office/powerpoint/2010/main" val="19148373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69000"/>
                <a:hueMod val="91000"/>
                <a:satMod val="164000"/>
                <a:lumMod val="74000"/>
              </a:schemeClr>
              <a:schemeClr val="bg1">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33" name="Rectangle 24">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26">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35" name="Group 28">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noFill/>
        </p:grpSpPr>
        <p:sp>
          <p:nvSpPr>
            <p:cNvPr id="30" name="Rectangle 29">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3983A188-4238-49A6-8F68-692CA84E1861}"/>
              </a:ext>
            </a:extLst>
          </p:cNvPr>
          <p:cNvSpPr>
            <a:spLocks noGrp="1"/>
          </p:cNvSpPr>
          <p:nvPr>
            <p:ph type="ctrTitle"/>
          </p:nvPr>
        </p:nvSpPr>
        <p:spPr>
          <a:xfrm>
            <a:off x="1154954" y="1293845"/>
            <a:ext cx="9154801" cy="2681256"/>
          </a:xfrm>
        </p:spPr>
        <p:txBody>
          <a:bodyPr>
            <a:normAutofit/>
          </a:bodyPr>
          <a:lstStyle/>
          <a:p>
            <a:pPr algn="ctr"/>
            <a:r>
              <a:rPr lang="en-US" dirty="0">
                <a:solidFill>
                  <a:schemeClr val="accent4"/>
                </a:solidFill>
              </a:rPr>
              <a:t>Influence of song’s features on their success</a:t>
            </a:r>
          </a:p>
        </p:txBody>
      </p:sp>
      <p:sp>
        <p:nvSpPr>
          <p:cNvPr id="3" name="Subtitle 2">
            <a:extLst>
              <a:ext uri="{FF2B5EF4-FFF2-40B4-BE49-F238E27FC236}">
                <a16:creationId xmlns:a16="http://schemas.microsoft.com/office/drawing/2014/main" id="{F96AE8A3-A1E2-4CDC-8C94-A3ED99B24911}"/>
              </a:ext>
            </a:extLst>
          </p:cNvPr>
          <p:cNvSpPr>
            <a:spLocks noGrp="1"/>
          </p:cNvSpPr>
          <p:nvPr>
            <p:ph type="subTitle" idx="1"/>
          </p:nvPr>
        </p:nvSpPr>
        <p:spPr>
          <a:xfrm>
            <a:off x="4300827" y="5267359"/>
            <a:ext cx="9154800" cy="1476570"/>
          </a:xfrm>
        </p:spPr>
        <p:txBody>
          <a:bodyPr anchor="t">
            <a:normAutofit/>
          </a:bodyPr>
          <a:lstStyle/>
          <a:p>
            <a:pPr algn="ctr"/>
            <a:r>
              <a:rPr lang="en-US" sz="1600" dirty="0">
                <a:solidFill>
                  <a:schemeClr val="tx1"/>
                </a:solidFill>
              </a:rPr>
              <a:t>DSC 672: Summer 2021</a:t>
            </a:r>
          </a:p>
          <a:p>
            <a:pPr algn="ctr"/>
            <a:r>
              <a:rPr lang="en-US" sz="1600" dirty="0">
                <a:solidFill>
                  <a:schemeClr val="tx1"/>
                </a:solidFill>
              </a:rPr>
              <a:t>Ashay Kargaonkar</a:t>
            </a:r>
          </a:p>
          <a:p>
            <a:pPr algn="ctr"/>
            <a:endParaRPr lang="en-US" sz="1600" dirty="0">
              <a:solidFill>
                <a:schemeClr val="tx1"/>
              </a:solidFill>
            </a:endParaRPr>
          </a:p>
        </p:txBody>
      </p:sp>
      <p:pic>
        <p:nvPicPr>
          <p:cNvPr id="6" name="Picture 5" descr="A picture containing text, clipart, vector graphics&#10;&#10;Description automatically generated">
            <a:extLst>
              <a:ext uri="{FF2B5EF4-FFF2-40B4-BE49-F238E27FC236}">
                <a16:creationId xmlns:a16="http://schemas.microsoft.com/office/drawing/2014/main" id="{66DA6295-24FC-4F57-A804-2949763A10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32" y="468131"/>
            <a:ext cx="2203531" cy="1651427"/>
          </a:xfrm>
          <a:prstGeom prst="rect">
            <a:avLst/>
          </a:prstGeom>
        </p:spPr>
      </p:pic>
    </p:spTree>
    <p:extLst>
      <p:ext uri="{BB962C8B-B14F-4D97-AF65-F5344CB8AC3E}">
        <p14:creationId xmlns:p14="http://schemas.microsoft.com/office/powerpoint/2010/main" val="255471150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69000"/>
                <a:hueMod val="91000"/>
                <a:satMod val="164000"/>
                <a:lumMod val="74000"/>
              </a:schemeClr>
              <a:schemeClr val="bg1">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4" name="Rectangle 23">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7" name="Rectangle 26">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9" name="Rectangle 28">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33" name="Group 32">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noFill/>
        </p:grpSpPr>
        <p:sp>
          <p:nvSpPr>
            <p:cNvPr id="34" name="Rectangle 33">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D3A78B15-5868-4ADF-A89F-CE0614613E9B}"/>
              </a:ext>
            </a:extLst>
          </p:cNvPr>
          <p:cNvSpPr>
            <a:spLocks noGrp="1"/>
          </p:cNvSpPr>
          <p:nvPr>
            <p:ph type="title"/>
          </p:nvPr>
        </p:nvSpPr>
        <p:spPr>
          <a:xfrm>
            <a:off x="1384106" y="-561698"/>
            <a:ext cx="9154801" cy="2681256"/>
          </a:xfrm>
        </p:spPr>
        <p:txBody>
          <a:bodyPr vert="horz" lIns="91440" tIns="45720" rIns="91440" bIns="45720" rtlCol="0" anchor="b">
            <a:normAutofit/>
          </a:bodyPr>
          <a:lstStyle/>
          <a:p>
            <a:pPr algn="ctr"/>
            <a:r>
              <a:rPr lang="en-US" sz="5400" dirty="0">
                <a:solidFill>
                  <a:schemeClr val="accent4"/>
                </a:solidFill>
              </a:rPr>
              <a:t>Aim</a:t>
            </a:r>
          </a:p>
        </p:txBody>
      </p:sp>
      <p:pic>
        <p:nvPicPr>
          <p:cNvPr id="21" name="Picture 20" descr="A picture containing text, clipart, vector graphics&#10;&#10;Description automatically generated">
            <a:extLst>
              <a:ext uri="{FF2B5EF4-FFF2-40B4-BE49-F238E27FC236}">
                <a16:creationId xmlns:a16="http://schemas.microsoft.com/office/drawing/2014/main" id="{F5224A93-8D0F-439E-AB03-5BF5EEAAD6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32" y="468131"/>
            <a:ext cx="2203531" cy="1651427"/>
          </a:xfrm>
          <a:prstGeom prst="rect">
            <a:avLst/>
          </a:prstGeom>
        </p:spPr>
      </p:pic>
      <p:sp>
        <p:nvSpPr>
          <p:cNvPr id="4" name="TextBox 3">
            <a:extLst>
              <a:ext uri="{FF2B5EF4-FFF2-40B4-BE49-F238E27FC236}">
                <a16:creationId xmlns:a16="http://schemas.microsoft.com/office/drawing/2014/main" id="{183DC5B3-FECB-4BF3-A877-2F8B25DE9705}"/>
              </a:ext>
            </a:extLst>
          </p:cNvPr>
          <p:cNvSpPr txBox="1"/>
          <p:nvPr/>
        </p:nvSpPr>
        <p:spPr>
          <a:xfrm>
            <a:off x="1585519" y="3154261"/>
            <a:ext cx="8953388"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To understand the impact of many variables on a songs' popularity and see if there was any significant national difference.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 do songs’ lyrics and other features influence their success?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032989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69000"/>
                <a:hueMod val="91000"/>
                <a:satMod val="164000"/>
                <a:lumMod val="74000"/>
              </a:schemeClr>
              <a:schemeClr val="bg1">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Rectangle 11">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14" name="Rectangle 1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8" name="Group 1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noFill/>
        </p:grpSpPr>
        <p:sp>
          <p:nvSpPr>
            <p:cNvPr id="19" name="Rectangle 1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E0233FEA-A14A-403F-9722-D5E55DAF46C3}"/>
              </a:ext>
            </a:extLst>
          </p:cNvPr>
          <p:cNvSpPr>
            <a:spLocks noGrp="1"/>
          </p:cNvSpPr>
          <p:nvPr>
            <p:ph type="title"/>
          </p:nvPr>
        </p:nvSpPr>
        <p:spPr>
          <a:xfrm>
            <a:off x="1518599" y="-561698"/>
            <a:ext cx="9154801" cy="2681256"/>
          </a:xfrm>
        </p:spPr>
        <p:txBody>
          <a:bodyPr vert="horz" lIns="91440" tIns="45720" rIns="91440" bIns="45720" rtlCol="0" anchor="b">
            <a:normAutofit/>
          </a:bodyPr>
          <a:lstStyle/>
          <a:p>
            <a:pPr algn="ctr"/>
            <a:r>
              <a:rPr lang="en-US" sz="5400" dirty="0">
                <a:solidFill>
                  <a:schemeClr val="accent4"/>
                </a:solidFill>
              </a:rPr>
              <a:t>Dataset</a:t>
            </a:r>
          </a:p>
        </p:txBody>
      </p:sp>
      <p:pic>
        <p:nvPicPr>
          <p:cNvPr id="13" name="Picture 12" descr="A picture containing text, clipart, vector graphics&#10;&#10;Description automatically generated">
            <a:extLst>
              <a:ext uri="{FF2B5EF4-FFF2-40B4-BE49-F238E27FC236}">
                <a16:creationId xmlns:a16="http://schemas.microsoft.com/office/drawing/2014/main" id="{4A4EAF5A-1B05-4171-A1BC-7B12F2379C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32" y="468131"/>
            <a:ext cx="2203531" cy="1651427"/>
          </a:xfrm>
          <a:prstGeom prst="rect">
            <a:avLst/>
          </a:prstGeom>
        </p:spPr>
      </p:pic>
      <p:sp>
        <p:nvSpPr>
          <p:cNvPr id="6" name="TextBox 5">
            <a:extLst>
              <a:ext uri="{FF2B5EF4-FFF2-40B4-BE49-F238E27FC236}">
                <a16:creationId xmlns:a16="http://schemas.microsoft.com/office/drawing/2014/main" id="{7DC5CEAB-39DC-4D97-8C11-289531148982}"/>
              </a:ext>
            </a:extLst>
          </p:cNvPr>
          <p:cNvSpPr txBox="1"/>
          <p:nvPr/>
        </p:nvSpPr>
        <p:spPr>
          <a:xfrm>
            <a:off x="1518598" y="3048340"/>
            <a:ext cx="9154801" cy="2862322"/>
          </a:xfrm>
          <a:prstGeom prst="rect">
            <a:avLst/>
          </a:prstGeom>
          <a:noFill/>
        </p:spPr>
        <p:txBody>
          <a:bodyPr wrap="square" rtlCol="0">
            <a:spAutoFit/>
          </a:bodyPr>
          <a:lstStyle/>
          <a:p>
            <a:pPr marL="285750" indent="-285750">
              <a:buFont typeface="Arial" panose="020B0604020202020204" pitchFamily="34" charset="0"/>
              <a:buChar char="•"/>
            </a:pPr>
            <a:r>
              <a:rPr lang="en-US" dirty="0"/>
              <a:t>Data was obtained from Kaggle website, and this Spotify’s dataset contains 150 attributes and 170633 observations</a:t>
            </a:r>
          </a:p>
          <a:p>
            <a:endParaRPr lang="en-US" dirty="0"/>
          </a:p>
          <a:p>
            <a:pPr marL="285750" indent="-285750">
              <a:buFont typeface="Arial" panose="020B0604020202020204" pitchFamily="34" charset="0"/>
              <a:buChar char="•"/>
            </a:pPr>
            <a:r>
              <a:rPr lang="en-US" dirty="0"/>
              <a:t>Data contains information about the type of genre of song, in which country it was release, was it in top 10 or top 50 in charts.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Also details about songs like danceability, energy, loudness, duration of the songs are present.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055675932"/>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69000"/>
                <a:hueMod val="91000"/>
                <a:satMod val="164000"/>
                <a:lumMod val="74000"/>
              </a:schemeClr>
              <a:schemeClr val="bg1">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Rectangle 11">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14" name="Rectangle 1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8" name="Group 1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noFill/>
        </p:grpSpPr>
        <p:sp>
          <p:nvSpPr>
            <p:cNvPr id="19" name="Rectangle 1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531330C4-CEC4-434B-B858-4AFEC1A24EEB}"/>
              </a:ext>
            </a:extLst>
          </p:cNvPr>
          <p:cNvSpPr>
            <a:spLocks noGrp="1"/>
          </p:cNvSpPr>
          <p:nvPr>
            <p:ph type="title"/>
          </p:nvPr>
        </p:nvSpPr>
        <p:spPr>
          <a:xfrm>
            <a:off x="1518599" y="-561698"/>
            <a:ext cx="9154801" cy="2681256"/>
          </a:xfrm>
        </p:spPr>
        <p:txBody>
          <a:bodyPr vert="horz" lIns="91440" tIns="45720" rIns="91440" bIns="45720" rtlCol="0" anchor="b">
            <a:normAutofit/>
          </a:bodyPr>
          <a:lstStyle/>
          <a:p>
            <a:pPr algn="ctr"/>
            <a:r>
              <a:rPr lang="en-US" sz="5400" dirty="0">
                <a:solidFill>
                  <a:schemeClr val="accent4"/>
                </a:solidFill>
              </a:rPr>
              <a:t>Planning</a:t>
            </a:r>
          </a:p>
        </p:txBody>
      </p:sp>
      <p:pic>
        <p:nvPicPr>
          <p:cNvPr id="13" name="Picture 12" descr="A picture containing text, clipart, vector graphics&#10;&#10;Description automatically generated">
            <a:extLst>
              <a:ext uri="{FF2B5EF4-FFF2-40B4-BE49-F238E27FC236}">
                <a16:creationId xmlns:a16="http://schemas.microsoft.com/office/drawing/2014/main" id="{2379586F-CDD0-4FFA-8B17-AECC3A75CA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32" y="468131"/>
            <a:ext cx="2203531" cy="1651427"/>
          </a:xfrm>
          <a:prstGeom prst="rect">
            <a:avLst/>
          </a:prstGeom>
        </p:spPr>
      </p:pic>
      <p:sp>
        <p:nvSpPr>
          <p:cNvPr id="4" name="TextBox 3">
            <a:extLst>
              <a:ext uri="{FF2B5EF4-FFF2-40B4-BE49-F238E27FC236}">
                <a16:creationId xmlns:a16="http://schemas.microsoft.com/office/drawing/2014/main" id="{9BB69DAB-CAD4-45AE-A4EE-328F3801F007}"/>
              </a:ext>
            </a:extLst>
          </p:cNvPr>
          <p:cNvSpPr txBox="1"/>
          <p:nvPr/>
        </p:nvSpPr>
        <p:spPr>
          <a:xfrm>
            <a:off x="1518598" y="2668725"/>
            <a:ext cx="9154801" cy="3139321"/>
          </a:xfrm>
          <a:prstGeom prst="rect">
            <a:avLst/>
          </a:prstGeom>
          <a:noFill/>
        </p:spPr>
        <p:txBody>
          <a:bodyPr wrap="square" rtlCol="0">
            <a:spAutoFit/>
          </a:bodyPr>
          <a:lstStyle/>
          <a:p>
            <a:pPr marL="285750" indent="-285750">
              <a:buFont typeface="Arial" panose="020B0604020202020204" pitchFamily="34" charset="0"/>
              <a:buChar char="•"/>
            </a:pPr>
            <a:r>
              <a:rPr lang="en-US" dirty="0"/>
              <a:t>By performing regression and some dimensionality reduction techniques, classification of these variables can be done, and we can understand which variables influence the most which makes them popular songs.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Machine learning algorithms like K-means or similar can be performed so that we can predict for the upcoming songs.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These algorithms can also be useful for recommending songs for the user according to their choice of hearing. As large number of details of songs are provided, recommendations might be better for the user.</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4905617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69000"/>
                <a:hueMod val="91000"/>
                <a:satMod val="164000"/>
                <a:lumMod val="74000"/>
              </a:schemeClr>
              <a:schemeClr val="bg1">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Rectangle 11">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14" name="Rectangle 1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8" name="Group 1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noFill/>
        </p:grpSpPr>
        <p:sp>
          <p:nvSpPr>
            <p:cNvPr id="19" name="Rectangle 1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A4B47323-921E-4BA8-B5BA-7DC542E43149}"/>
              </a:ext>
            </a:extLst>
          </p:cNvPr>
          <p:cNvSpPr>
            <a:spLocks noGrp="1"/>
          </p:cNvSpPr>
          <p:nvPr>
            <p:ph type="title"/>
          </p:nvPr>
        </p:nvSpPr>
        <p:spPr>
          <a:xfrm>
            <a:off x="1384106" y="-561698"/>
            <a:ext cx="9154801" cy="2681256"/>
          </a:xfrm>
        </p:spPr>
        <p:txBody>
          <a:bodyPr vert="horz" lIns="91440" tIns="45720" rIns="91440" bIns="45720" rtlCol="0" anchor="b">
            <a:normAutofit/>
          </a:bodyPr>
          <a:lstStyle/>
          <a:p>
            <a:pPr algn="ctr"/>
            <a:r>
              <a:rPr lang="en-US" sz="5400" dirty="0">
                <a:solidFill>
                  <a:schemeClr val="accent4"/>
                </a:solidFill>
              </a:rPr>
              <a:t>Challenges</a:t>
            </a:r>
          </a:p>
        </p:txBody>
      </p:sp>
      <p:pic>
        <p:nvPicPr>
          <p:cNvPr id="13" name="Picture 12" descr="A picture containing text, clipart, vector graphics&#10;&#10;Description automatically generated">
            <a:extLst>
              <a:ext uri="{FF2B5EF4-FFF2-40B4-BE49-F238E27FC236}">
                <a16:creationId xmlns:a16="http://schemas.microsoft.com/office/drawing/2014/main" id="{32034E3D-0A2C-4224-8AFE-B447AAA0C5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32" y="468131"/>
            <a:ext cx="2203531" cy="1651427"/>
          </a:xfrm>
          <a:prstGeom prst="rect">
            <a:avLst/>
          </a:prstGeom>
        </p:spPr>
      </p:pic>
      <p:sp>
        <p:nvSpPr>
          <p:cNvPr id="4" name="TextBox 3">
            <a:extLst>
              <a:ext uri="{FF2B5EF4-FFF2-40B4-BE49-F238E27FC236}">
                <a16:creationId xmlns:a16="http://schemas.microsoft.com/office/drawing/2014/main" id="{6E08030B-9670-46EA-AC8A-5BA5FD878EDE}"/>
              </a:ext>
            </a:extLst>
          </p:cNvPr>
          <p:cNvSpPr txBox="1"/>
          <p:nvPr/>
        </p:nvSpPr>
        <p:spPr>
          <a:xfrm>
            <a:off x="1384107" y="2681256"/>
            <a:ext cx="9154800" cy="3416320"/>
          </a:xfrm>
          <a:prstGeom prst="rect">
            <a:avLst/>
          </a:prstGeom>
          <a:noFill/>
        </p:spPr>
        <p:txBody>
          <a:bodyPr wrap="square" rtlCol="0">
            <a:spAutoFit/>
          </a:bodyPr>
          <a:lstStyle/>
          <a:p>
            <a:pPr marL="285750" indent="-285750">
              <a:buFont typeface="Arial" panose="020B0604020202020204" pitchFamily="34" charset="0"/>
              <a:buChar char="•"/>
            </a:pPr>
            <a:r>
              <a:rPr lang="en-US" dirty="0"/>
              <a:t>Popularity of songs can be different in different country which will make it challenge to understand the popularity.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Also, different country speak different languages so their choice might differ.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As the lyrics in Non-English-speaking songs were recorded in proper format, some of values are missing. Because of which it will make problems to understand more about the songs.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113781968"/>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99</TotalTime>
  <Words>269</Words>
  <Application>Microsoft Office PowerPoint</Application>
  <PresentationFormat>Widescreen</PresentationFormat>
  <Paragraphs>28</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Century Gothic</vt:lpstr>
      <vt:lpstr>Wingdings 3</vt:lpstr>
      <vt:lpstr>Ion Boardroom</vt:lpstr>
      <vt:lpstr>Influence of song’s features on their success</vt:lpstr>
      <vt:lpstr>Aim</vt:lpstr>
      <vt:lpstr>Dataset</vt:lpstr>
      <vt:lpstr>Planning</vt:lpstr>
      <vt:lpstr>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Kargaonkar, Ashay</dc:creator>
  <cp:lastModifiedBy>Kargaonkar, Ashay</cp:lastModifiedBy>
  <cp:revision>20</cp:revision>
  <dcterms:created xsi:type="dcterms:W3CDTF">2021-07-01T17:40:32Z</dcterms:created>
  <dcterms:modified xsi:type="dcterms:W3CDTF">2021-07-01T20:01:25Z</dcterms:modified>
</cp:coreProperties>
</file>